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731520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480560"/>
            <a:ext cx="9144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" y="512064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3258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CYBERTRAFFIC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058400" cy="9144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AF8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AI-Enhanced Fuzzy Controller for</a:t>
            </a:r>
            <a:br/>
            <a:r>
              <a:rPr>
                <a:solidFill>
                  <a:srgbClr val="2D3C48"/>
                </a:solidFill>
              </a:rPr>
              <a:t>Smart Traffic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977639"/>
            <a:ext cx="8046720" cy="10058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BE05000461 — Fuzzy Logic and Genetic Programming</a:t>
            </a:r>
          </a:p>
          <a:p>
            <a:pPr>
              <a:defRPr sz="1300">
                <a:solidFill>
                  <a:srgbClr val="C3B8DE"/>
                </a:solidFill>
              </a:defRPr>
            </a:pPr>
            <a:r>
              <a:rPr>
                <a:solidFill>
                  <a:srgbClr val="2D3C48"/>
                </a:solidFill>
              </a:rPr>
              <a:t>L.D. College of Engineering • Computer Engineering Department • Smart Cities</a:t>
            </a:r>
          </a:p>
          <a:p>
            <a:pPr>
              <a:defRPr sz="1300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Why fixed-time traffic signals are inefficient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27631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OFF-PEAK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11680"/>
            <a:ext cx="309981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Vehicles may wait unnecessarily at empty intersections because signal timings remain fixed.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1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RUSH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09981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Fixed timers may fail to clear heavy queues quickly, increasing congestion and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27631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D6C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EMERGENCIES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11680"/>
            <a:ext cx="309981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Traditional systems do not inherently detect emergency vehicles or adapt to live incidents.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698480" cy="20116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Proposed solution: Intelligent Traffic Management System (ITMS).</a:t>
            </a:r>
          </a:p>
          <a:p>
            <a:pPr>
              <a:spcAft>
                <a:spcPts val="1000"/>
              </a:spcAft>
              <a:defRPr sz="17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Mamdani Fuzzy Inference System calculates green-light duration from real-time traffic data.</a:t>
            </a:r>
          </a:p>
          <a:p>
            <a:pPr>
              <a:spcAft>
                <a:spcPts val="1000"/>
              </a:spcAft>
              <a:defRPr sz="17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AI and computer vision provide live traffic-state inputs and emergency override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2.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36776"/>
            <a:ext cx="4572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27631"/>
            <a:ext cx="4160520" cy="8229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1F374B"/>
                </a:solidFill>
              </a:rPr>
              <a:t>Model the vague, dynamic nature of urban traffic using fuzzy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5087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1" y="1636776"/>
            <a:ext cx="4572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627631"/>
            <a:ext cx="4160520" cy="8229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1F374B"/>
                </a:solidFill>
              </a:rPr>
              <a:t>Design linguistic variables, membership functions and a robust rule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45536"/>
            <a:ext cx="4572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36391"/>
            <a:ext cx="4160520" cy="8229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Implement the Mamdani fuzzy inference system using Python and scikit-fuzzy.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017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3145536"/>
            <a:ext cx="4572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3136391"/>
            <a:ext cx="4160520" cy="8229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Conceptualize AI computer vision for queue length and waiting-time estimation.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52627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4654295"/>
            <a:ext cx="4572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45151"/>
            <a:ext cx="4160520" cy="8229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Evaluate controller performance through testing and simulation.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3. Advanced AI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AI modules collect and interpret live traffic information before fuzzy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30552"/>
            <a:ext cx="163677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CCTV /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514600"/>
            <a:ext cx="1636776" cy="9784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Live traffic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788920"/>
            <a:ext cx="320040" cy="0"/>
          </a:xfrm>
          <a:prstGeom prst="line">
            <a:avLst/>
          </a:prstGeom>
          <a:ln w="25400">
            <a:solidFill>
              <a:srgbClr val="E1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01168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130552"/>
            <a:ext cx="163677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8FFE2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514600"/>
            <a:ext cx="1636776" cy="9784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YOLO detects, classifies &amp; tracks vehicles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79" y="2788920"/>
            <a:ext cx="320041" cy="0"/>
          </a:xfrm>
          <a:prstGeom prst="line">
            <a:avLst/>
          </a:prstGeom>
          <a:ln w="25400">
            <a:solidFill>
              <a:srgbClr val="E1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01168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130552"/>
            <a:ext cx="163677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Traffic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514600"/>
            <a:ext cx="1636776" cy="9784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Queue length + waiting 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79" y="2788920"/>
            <a:ext cx="320041" cy="0"/>
          </a:xfrm>
          <a:prstGeom prst="line">
            <a:avLst/>
          </a:prstGeom>
          <a:ln w="25400">
            <a:solidFill>
              <a:srgbClr val="E1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01168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130552"/>
            <a:ext cx="163677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Mamdani Fuzzy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514600"/>
            <a:ext cx="1636776" cy="9784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9-rule decision 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2788920"/>
            <a:ext cx="320040" cy="0"/>
          </a:xfrm>
          <a:prstGeom prst="line">
            <a:avLst/>
          </a:prstGeom>
          <a:ln w="25400">
            <a:solidFill>
              <a:srgbClr val="E1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01168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2130552"/>
            <a:ext cx="163677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Traffic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514600"/>
            <a:ext cx="1636776" cy="9784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Adaptive green duration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16052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4279392"/>
            <a:ext cx="328269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D6C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Emergency Vehicle Preemption (EVP)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3392" y="4663440"/>
            <a:ext cx="3282696" cy="6126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Visual/audio recognition can override the fuzzy cycle and trigger an emergency “green wave.”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416052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4279392"/>
            <a:ext cx="328269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Predictive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663440"/>
            <a:ext cx="3282696" cy="6126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Historical + IoT data can predict peak congestion and pre-adjust fuzzy rule weights.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4. Fuzzy Controller — Inputs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Two traffic-state inputs determine adaptive green-light duration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27631"/>
            <a:ext cx="29626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INPUT 1 — QUEUE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296265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0–50 vehicles</a:t>
            </a:r>
            <a:br/>
            <a:br/>
            <a:r>
              <a:rPr>
                <a:solidFill>
                  <a:srgbClr val="2D3C48"/>
                </a:solidFill>
              </a:rPr>
              <a:t>Low • Medium •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627631"/>
            <a:ext cx="29626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INPUT 2 — WAITING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11680"/>
            <a:ext cx="296265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0–10 minutes</a:t>
            </a:r>
            <a:br/>
            <a:br/>
            <a:r>
              <a:rPr>
                <a:solidFill>
                  <a:srgbClr val="2D3C48"/>
                </a:solidFill>
              </a:rPr>
              <a:t>Short • Medium • Long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627631"/>
            <a:ext cx="29626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OUTPUT — GREEN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11680"/>
            <a:ext cx="296265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10–90 seconds</a:t>
            </a:r>
            <a:br/>
            <a:br/>
            <a:r>
              <a:rPr>
                <a:solidFill>
                  <a:srgbClr val="2D3C48"/>
                </a:solidFill>
              </a:rPr>
              <a:t>Short • Medium • Long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46304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94760"/>
            <a:ext cx="164592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94760"/>
            <a:ext cx="530352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Triangular MF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114800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(0, 0, 25)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361688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361688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(0, 25, 50)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08576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08576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608576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(25, 50, 50)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55464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855464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Short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55464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(0, 0, 5)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02352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102352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102352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(0, 5, 10)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349240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49240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(5, 10, 10)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96128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Duration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596128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Short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596128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(10, 10, 50) → center 20s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43016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843016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843016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(10, 50, 90) → center 50s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089904"/>
            <a:ext cx="14630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Duration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6089904"/>
            <a:ext cx="16459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6089904"/>
            <a:ext cx="5303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(50, 90, 90) → center 80s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5. Fuzzy Rule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Nine heuristic IF–THEN rules emulate human traffic-control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Queue \ Wait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08760"/>
            <a:ext cx="22860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22860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2286000" cy="4572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828800" cy="9144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3E6FF"/>
                </a:solidFill>
              </a:defRPr>
            </a:pPr>
            <a:r>
              <a:rPr>
                <a:solidFill>
                  <a:srgbClr val="2D3C48"/>
                </a:solidFill>
              </a:rPr>
              <a:t>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11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30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514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Low queue</a:t>
            </a:r>
            <a:br/>
            <a:r>
              <a:rPr>
                <a:solidFill>
                  <a:srgbClr val="2D3C48"/>
                </a:solidFill>
              </a:rPr>
              <a:t>AND Short wait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30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514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Low queue</a:t>
            </a:r>
            <a:br/>
            <a:r>
              <a:rPr>
                <a:solidFill>
                  <a:srgbClr val="2D3C48"/>
                </a:solidFill>
              </a:rPr>
              <a:t>AND Medium wait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130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514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Low queue</a:t>
            </a:r>
            <a:br/>
            <a:r>
              <a:rPr>
                <a:solidFill>
                  <a:srgbClr val="2D3C48"/>
                </a:solidFill>
              </a:rPr>
              <a:t>AND Long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1828800" cy="9144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3E6FF"/>
                </a:solidFill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154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3273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3657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Medium queue</a:t>
            </a:r>
            <a:br/>
            <a:r>
              <a:rPr>
                <a:solidFill>
                  <a:srgbClr val="2D3C48"/>
                </a:solidFill>
              </a:rPr>
              <a:t>AND Short wait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154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3273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657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Medium queue</a:t>
            </a:r>
            <a:br/>
            <a:r>
              <a:rPr>
                <a:solidFill>
                  <a:srgbClr val="2D3C48"/>
                </a:solidFill>
              </a:rPr>
              <a:t>AND Medium wait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3273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657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Medium queue</a:t>
            </a:r>
            <a:br/>
            <a:r>
              <a:rPr>
                <a:solidFill>
                  <a:srgbClr val="2D3C48"/>
                </a:solidFill>
              </a:rPr>
              <a:t>AND Long 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1828800" cy="9144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3E6FF"/>
                </a:solidFill>
              </a:defRPr>
            </a:pPr>
            <a:r>
              <a:rPr>
                <a:solidFill>
                  <a:srgbClr val="2D3C48"/>
                </a:solidFill>
              </a:rPr>
              <a:t>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297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4416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4800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High queue</a:t>
            </a:r>
            <a:br/>
            <a:r>
              <a:rPr>
                <a:solidFill>
                  <a:srgbClr val="2D3C48"/>
                </a:solidFill>
              </a:rPr>
              <a:t>AND Short wait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297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4416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800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High queue</a:t>
            </a:r>
            <a:br/>
            <a:r>
              <a:rPr>
                <a:solidFill>
                  <a:srgbClr val="2D3C48"/>
                </a:solidFill>
              </a:rPr>
              <a:t>AND Medium wait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429768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4416552"/>
            <a:ext cx="17282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LONG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4800600"/>
            <a:ext cx="1728216" cy="20116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IF High queue</a:t>
            </a:r>
            <a:br/>
            <a:r>
              <a:rPr>
                <a:solidFill>
                  <a:srgbClr val="2D3C48"/>
                </a:solidFill>
              </a:rPr>
              <a:t>AND Long wait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6. Implementation &amp;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Python + scikit-fuzzy with a Streamlit-based interactive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36192"/>
            <a:ext cx="29169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PYTHON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20240"/>
            <a:ext cx="291693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NumPy • scikit-fuzzy • fuzzy control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536192"/>
            <a:ext cx="29169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8FFE2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FUZZY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20240"/>
            <a:ext cx="291693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Antecedents → membership functions → 9 rules →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536192"/>
            <a:ext cx="29169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920240"/>
            <a:ext cx="291693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Streamlit sliders for queue length and maximum waiting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10698480" cy="24231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DCF7"/>
                </a:solidFill>
                <a:latin typeface="Courier New"/>
              </a:defRPr>
            </a:pPr>
            <a:r>
              <a:rPr>
                <a:solidFill>
                  <a:srgbClr val="2D3C48"/>
                </a:solidFill>
              </a:rPr>
              <a:t>queue = ctrl.Antecedent(np.arange(0, 51, 1), 'queue_length')</a:t>
            </a:r>
            <a:br/>
            <a:r>
              <a:rPr>
                <a:solidFill>
                  <a:srgbClr val="2D3C48"/>
                </a:solidFill>
              </a:rPr>
              <a:t>wait = ctrl.Antecedent(np.arange(0, 11, 1), 'waiting_time')</a:t>
            </a:r>
            <a:br/>
            <a:r>
              <a:rPr>
                <a:solidFill>
                  <a:srgbClr val="2D3C48"/>
                </a:solidFill>
              </a:rPr>
              <a:t>duration = ctrl.Consequent(np.arange(10, 91, 1), 'green_duration')</a:t>
            </a:r>
            <a:br/>
            <a:br/>
            <a:r>
              <a:rPr>
                <a:solidFill>
                  <a:srgbClr val="2D3C48"/>
                </a:solidFill>
              </a:rPr>
              <a:t>queue.automf(names=['low', 'medium', 'high'])</a:t>
            </a:r>
            <a:br/>
            <a:r>
              <a:rPr>
                <a:solidFill>
                  <a:srgbClr val="2D3C48"/>
                </a:solidFill>
              </a:rPr>
              <a:t>wait.automf(names=['short', 'medium', 'long'])</a:t>
            </a:r>
            <a:br/>
            <a:r>
              <a:rPr>
                <a:solidFill>
                  <a:srgbClr val="2D3C48"/>
                </a:solidFill>
              </a:rPr>
              <a:t>duration.automf(names=['short', 'medium', 'long'])</a:t>
            </a:r>
            <a:br/>
            <a:br/>
            <a:r>
              <a:rPr>
                <a:solidFill>
                  <a:srgbClr val="2D3C48"/>
                </a:solidFill>
              </a:rPr>
              <a:t>rule1 = ctrl.Rule(queue['low'] &amp; wait['short'], duration['short'])</a:t>
            </a:r>
            <a:br/>
            <a:r>
              <a:rPr>
                <a:solidFill>
                  <a:srgbClr val="2D3C48"/>
                </a:solidFill>
              </a:rPr>
              <a:t>rule9 = ctrl.Rule(queue['high'] &amp; wait['long'], duration['long'])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7. Manual Verification —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Crisp inputs: Queue Length = 20 vehicles, Waiting Time = 4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36192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FUZZIFICATION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309981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Queue: Low = 0.2, Medium = 0.8</a:t>
            </a:r>
            <a:br/>
            <a:r>
              <a:rPr>
                <a:solidFill>
                  <a:srgbClr val="2D3C48"/>
                </a:solidFill>
              </a:rPr>
              <a:t>Wait: Short = 0.2, Medium = 0.8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36192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RULE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20240"/>
            <a:ext cx="309981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R1 = 0.2 Short</a:t>
            </a:r>
            <a:br/>
            <a:r>
              <a:rPr>
                <a:solidFill>
                  <a:srgbClr val="2D3C48"/>
                </a:solidFill>
              </a:rPr>
              <a:t>R2 = 0.2 Short</a:t>
            </a:r>
            <a:br/>
            <a:r>
              <a:rPr>
                <a:solidFill>
                  <a:srgbClr val="2D3C48"/>
                </a:solidFill>
              </a:rPr>
              <a:t>R4 = 0.2 Medium</a:t>
            </a:r>
            <a:br/>
            <a:r>
              <a:rPr>
                <a:solidFill>
                  <a:srgbClr val="2D3C48"/>
                </a:solidFill>
              </a:rPr>
              <a:t>R5 = 0.8 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36192"/>
            <a:ext cx="309981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DEFUZZIFICATION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20240"/>
            <a:ext cx="3099816" cy="7040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Weighted average</a:t>
            </a:r>
            <a:br/>
            <a:r>
              <a:rPr>
                <a:solidFill>
                  <a:srgbClr val="2D3C48"/>
                </a:solidFill>
              </a:rPr>
              <a:t>= (4 + 4 + 10 + 40) / 1.4</a:t>
            </a:r>
            <a:br/>
            <a:r>
              <a:rPr>
                <a:solidFill>
                  <a:srgbClr val="2D3C48"/>
                </a:solidFill>
              </a:rPr>
              <a:t>≈ 41.43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10058400" cy="10972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AF8FF"/>
                </a:solidFill>
                <a:latin typeface="Courier New"/>
              </a:defRPr>
            </a:pPr>
            <a:r>
              <a:rPr>
                <a:solidFill>
                  <a:srgbClr val="2D3C48"/>
                </a:solidFill>
              </a:rPr>
              <a:t>Crisp output = [(0.2×20)+(0.2×20)+(0.2×50)+(0.8×50)] ÷ (0.2+0.2+0.2+0.8)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617720"/>
            <a:ext cx="4251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782312"/>
            <a:ext cx="3886200" cy="5486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A8FFE2"/>
                </a:solidFill>
              </a:defRPr>
            </a:pPr>
            <a:r>
              <a:rPr>
                <a:solidFill>
                  <a:srgbClr val="2D3C48"/>
                </a:solidFill>
              </a:rPr>
              <a:t>OPTIMAL GREEN ≈ 41.43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8.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1F374B"/>
                </a:solidFill>
              </a:rPr>
              <a:t>Representative test cases from the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3152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71600"/>
            <a:ext cx="10058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371600"/>
            <a:ext cx="118872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Wait (min)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71600"/>
            <a:ext cx="13716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Output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5836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FFE2"/>
                </a:solidFill>
              </a:defRPr>
            </a:pPr>
            <a:r>
              <a:rPr>
                <a:solidFill>
                  <a:srgbClr val="1F374B"/>
                </a:solidFill>
              </a:rPr>
              <a:t>System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01367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74519"/>
            <a:ext cx="6400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74519"/>
            <a:ext cx="9144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874519"/>
            <a:ext cx="10972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874519"/>
            <a:ext cx="128016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~20.00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874519"/>
            <a:ext cx="64922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Normal flow, minimal wait.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78608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6400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2651760"/>
            <a:ext cx="9144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651760"/>
            <a:ext cx="10972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651760"/>
            <a:ext cx="128016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~50.00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651760"/>
            <a:ext cx="64922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Growing queue, immediate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29000"/>
            <a:ext cx="6400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429000"/>
            <a:ext cx="9144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3429000"/>
            <a:ext cx="10972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29000"/>
            <a:ext cx="128016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~50.00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3429000"/>
            <a:ext cx="64922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Low queue but critical wait.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133087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206240"/>
            <a:ext cx="6400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206240"/>
            <a:ext cx="9144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4872" y="4206240"/>
            <a:ext cx="10972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206240"/>
            <a:ext cx="128016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~80.00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5192" y="4206240"/>
            <a:ext cx="64922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Extreme congestion, maximum green.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10327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83479"/>
            <a:ext cx="6400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983479"/>
            <a:ext cx="91440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4872" y="4983479"/>
            <a:ext cx="109728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983479"/>
            <a:ext cx="128016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~41.43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5192" y="4983479"/>
            <a:ext cx="6492240" cy="4114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Moderate traffic, balanced response.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57784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96712"/>
            <a:ext cx="1036929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KEY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6080759"/>
            <a:ext cx="10369296" cy="-27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The controller dynamically increases green duration as queue severity and waiting time rise.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9. Strengths, Limitations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36192"/>
            <a:ext cx="31455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20240"/>
            <a:ext cx="314553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• Reduces the “empty intersection” problem.</a:t>
            </a:r>
            <a:br/>
            <a:r>
              <a:rPr>
                <a:solidFill>
                  <a:srgbClr val="2D3C48"/>
                </a:solidFill>
              </a:rPr>
              <a:t>• Uses waiting time for fairness.</a:t>
            </a:r>
            <a:br/>
            <a:r>
              <a:rPr>
                <a:solidFill>
                  <a:srgbClr val="2D3C48"/>
                </a:solidFill>
              </a:rPr>
              <a:t>• Adapts green duration to traffic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36192"/>
            <a:ext cx="31455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D6C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920240"/>
            <a:ext cx="314553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• Current fuzzy controller manages an isolated intersection.</a:t>
            </a:r>
            <a:br/>
            <a:r>
              <a:rPr>
                <a:solidFill>
                  <a:srgbClr val="2D3C48"/>
                </a:solidFill>
              </a:rPr>
              <a:t>• It does not consider downstream traffic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36192"/>
            <a:ext cx="314553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20240"/>
            <a:ext cx="3145536" cy="120700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• Multi-agent coordination / green waves</a:t>
            </a:r>
            <a:br/>
            <a:r>
              <a:rPr>
                <a:solidFill>
                  <a:srgbClr val="2D3C48"/>
                </a:solidFill>
              </a:rPr>
              <a:t>• Weather &amp; road-condition input</a:t>
            </a:r>
            <a:br/>
            <a:r>
              <a:rPr>
                <a:solidFill>
                  <a:srgbClr val="2D3C48"/>
                </a:solidFill>
              </a:rPr>
              <a:t>• ANPR-based automated enforcement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160520"/>
            <a:ext cx="594360" cy="594360"/>
          </a:xfrm>
          <a:prstGeom prst="ellipse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59436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1550"/>
                </a:solidFill>
              </a:defRPr>
            </a:pPr>
            <a:r>
              <a:rPr>
                <a:solidFill>
                  <a:srgbClr val="2D3C48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33087"/>
            <a:ext cx="2468880" cy="7315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Multi-agent coordination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709160" y="4160520"/>
            <a:ext cx="594360" cy="594360"/>
          </a:xfrm>
          <a:prstGeom prst="ellipse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297680"/>
            <a:ext cx="59436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1550"/>
                </a:solidFill>
              </a:defRPr>
            </a:pPr>
            <a:r>
              <a:rPr>
                <a:solidFill>
                  <a:srgbClr val="2D3C48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33087"/>
            <a:ext cx="2468880" cy="7315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Weather-aware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8366760" y="4160520"/>
            <a:ext cx="594360" cy="594360"/>
          </a:xfrm>
          <a:prstGeom prst="ellipse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297680"/>
            <a:ext cx="59436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1550"/>
                </a:solidFill>
              </a:defRPr>
            </a:pPr>
            <a:r>
              <a:rPr>
                <a:solidFill>
                  <a:srgbClr val="2D3C4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133087"/>
            <a:ext cx="2468880" cy="7315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ANPR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E6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9202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A8FFE2"/>
                </a:solidFill>
                <a:latin typeface="Aptos Display"/>
              </a:defRPr>
            </a:pPr>
            <a:r>
              <a:rPr>
                <a:solidFill>
                  <a:srgbClr val="1F374B"/>
                </a:solidFill>
              </a:rPr>
              <a:t>Fuzzy Logic + AI-driven data acquisition</a:t>
            </a:r>
          </a:p>
          <a:p>
            <a:pPr algn="ctr">
              <a:defRPr sz="2100">
                <a:solidFill>
                  <a:srgbClr val="FAF8FF"/>
                </a:solidFill>
              </a:defRPr>
            </a:pPr>
            <a:r>
              <a:rPr>
                <a:solidFill>
                  <a:srgbClr val="1F374B"/>
                </a:solidFill>
              </a:rPr>
              <a:t>provides an adaptable approach to urban traffic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947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913632"/>
            <a:ext cx="27340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ADAPTIVE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4297680"/>
            <a:ext cx="2734056" cy="6126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Dynamically adjusts signal timing.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37947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3913632"/>
            <a:ext cx="27340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EFFICIENT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4297680"/>
            <a:ext cx="2734056" cy="6126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Targets lower waiting time and congestion.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37947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3913632"/>
            <a:ext cx="2734056" cy="347472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D6C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EMERGENCY-READY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4297680"/>
            <a:ext cx="2734056" cy="6126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DCF7"/>
                </a:solidFill>
                <a:latin typeface="Aptos"/>
              </a:defRPr>
            </a:pPr>
            <a:r>
              <a:rPr>
                <a:solidFill>
                  <a:srgbClr val="2D3C48"/>
                </a:solidFill>
              </a:rPr>
              <a:t>Supports emergency routing through override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B3E6FF"/>
                </a:solidFill>
                <a:latin typeface="Aptos Display"/>
              </a:defRPr>
            </a:pPr>
            <a:r>
              <a:rPr>
                <a:solidFill>
                  <a:srgbClr val="2D3C48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DCF7"/>
                </a:solidFill>
              </a:defRPr>
            </a:pPr>
            <a:r>
              <a:rPr>
                <a:solidFill>
                  <a:srgbClr val="2D3C48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663440"/>
            <a:ext cx="8503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A8FFE2"/>
                </a:solidFill>
              </a:defRPr>
            </a:pPr>
            <a:r>
              <a:rPr>
                <a:solidFill>
                  <a:srgbClr val="697D8C"/>
                </a:solidFill>
              </a:rPr>
              <a:t>CYBERTRAFFIC AI • Smart Traffic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8DE"/>
                </a:solidFill>
                <a:latin typeface="Aptos"/>
              </a:defRPr>
            </a:pPr>
            <a:r>
              <a:rPr>
                <a:solidFill>
                  <a:srgbClr val="697D8C"/>
                </a:solidFill>
              </a:rPr>
              <a:t>CYBERTRAFFIC AI  •  Smart Traffic Management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